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62" r:id="rId3"/>
    <p:sldId id="257" r:id="rId4"/>
    <p:sldId id="259" r:id="rId5"/>
    <p:sldId id="266" r:id="rId6"/>
    <p:sldId id="265" r:id="rId7"/>
    <p:sldId id="271" r:id="rId8"/>
    <p:sldId id="272" r:id="rId9"/>
    <p:sldId id="261" r:id="rId10"/>
    <p:sldId id="268" r:id="rId11"/>
    <p:sldId id="269" r:id="rId12"/>
    <p:sldId id="270" r:id="rId13"/>
    <p:sldId id="273" r:id="rId14"/>
    <p:sldId id="274" r:id="rId15"/>
    <p:sldId id="275" r:id="rId16"/>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8" d="100"/>
          <a:sy n="118" d="100"/>
        </p:scale>
        <p:origin x="1738" y="91"/>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40DA5B-65ED-4D2B-8BC9-B07152F2E1C6}" type="datetimeFigureOut">
              <a:rPr lang="tr-TR" smtClean="0"/>
              <a:pPr/>
              <a:t>13.10.2025</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4CD466-4D2C-4922-957B-5B17621D7553}" type="slidenum">
              <a:rPr lang="tr-TR" smtClean="0"/>
              <a:pPr/>
              <a:t>‹#›</a:t>
            </a:fld>
            <a:endParaRPr lang="tr-T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014CD466-4D2C-4922-957B-5B17621D7553}" type="slidenum">
              <a:rPr lang="tr-TR" smtClean="0"/>
              <a:pPr/>
              <a:t>4</a:t>
            </a:fld>
            <a:endParaRPr lang="tr-T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014CD466-4D2C-4922-957B-5B17621D7553}" type="slidenum">
              <a:rPr lang="tr-TR" smtClean="0"/>
              <a:pPr/>
              <a:t>6</a:t>
            </a:fld>
            <a:endParaRPr lang="tr-T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014CD466-4D2C-4922-957B-5B17621D7553}" type="slidenum">
              <a:rPr lang="tr-TR" smtClean="0"/>
              <a:pPr/>
              <a:t>7</a:t>
            </a:fld>
            <a:endParaRPr lang="tr-TR"/>
          </a:p>
        </p:txBody>
      </p:sp>
    </p:spTree>
    <p:extLst>
      <p:ext uri="{BB962C8B-B14F-4D97-AF65-F5344CB8AC3E}">
        <p14:creationId xmlns:p14="http://schemas.microsoft.com/office/powerpoint/2010/main" val="6772720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014CD466-4D2C-4922-957B-5B17621D7553}" type="slidenum">
              <a:rPr lang="tr-TR" smtClean="0"/>
              <a:pPr/>
              <a:t>8</a:t>
            </a:fld>
            <a:endParaRPr lang="tr-TR"/>
          </a:p>
        </p:txBody>
      </p:sp>
    </p:spTree>
    <p:extLst>
      <p:ext uri="{BB962C8B-B14F-4D97-AF65-F5344CB8AC3E}">
        <p14:creationId xmlns:p14="http://schemas.microsoft.com/office/powerpoint/2010/main" val="1532129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014CD466-4D2C-4922-957B-5B17621D7553}" type="slidenum">
              <a:rPr lang="tr-TR" smtClean="0"/>
              <a:pPr/>
              <a:t>9</a:t>
            </a:fld>
            <a:endParaRPr lang="tr-T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Slayt Görüntüsü Yer Tutucusu"/>
          <p:cNvSpPr>
            <a:spLocks noGrp="1" noRot="1" noChangeAspect="1"/>
          </p:cNvSpPr>
          <p:nvPr>
            <p:ph type="sldImg"/>
          </p:nvPr>
        </p:nvSpPr>
        <p:spPr/>
      </p:sp>
      <p:sp>
        <p:nvSpPr>
          <p:cNvPr id="3" name="2 Not Yer Tutucusu"/>
          <p:cNvSpPr>
            <a:spLocks noGrp="1"/>
          </p:cNvSpPr>
          <p:nvPr>
            <p:ph type="body" idx="1"/>
          </p:nvPr>
        </p:nvSpPr>
        <p:spPr/>
        <p:txBody>
          <a:bodyPr>
            <a:normAutofit/>
          </a:bodyPr>
          <a:lstStyle/>
          <a:p>
            <a:endParaRPr lang="tr-TR" dirty="0"/>
          </a:p>
        </p:txBody>
      </p:sp>
      <p:sp>
        <p:nvSpPr>
          <p:cNvPr id="4" name="3 Slayt Numarası Yer Tutucusu"/>
          <p:cNvSpPr>
            <a:spLocks noGrp="1"/>
          </p:cNvSpPr>
          <p:nvPr>
            <p:ph type="sldNum" sz="quarter" idx="10"/>
          </p:nvPr>
        </p:nvSpPr>
        <p:spPr/>
        <p:txBody>
          <a:bodyPr/>
          <a:lstStyle/>
          <a:p>
            <a:fld id="{014CD466-4D2C-4922-957B-5B17621D7553}" type="slidenum">
              <a:rPr lang="tr-TR" smtClean="0"/>
              <a:pPr/>
              <a:t>12</a:t>
            </a:fld>
            <a:endParaRPr lang="tr-TR"/>
          </a:p>
        </p:txBody>
      </p:sp>
    </p:spTree>
    <p:extLst>
      <p:ext uri="{BB962C8B-B14F-4D97-AF65-F5344CB8AC3E}">
        <p14:creationId xmlns:p14="http://schemas.microsoft.com/office/powerpoint/2010/main" val="1524966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3 Veri Yer Tutucusu"/>
          <p:cNvSpPr>
            <a:spLocks noGrp="1"/>
          </p:cNvSpPr>
          <p:nvPr>
            <p:ph type="dt" sz="half" idx="10"/>
          </p:nvPr>
        </p:nvSpPr>
        <p:spPr/>
        <p:txBody>
          <a:bodyPr/>
          <a:lstStyle/>
          <a:p>
            <a:fld id="{D9F75050-0E15-4C5B-92B0-66D068882F1F}" type="datetimeFigureOut">
              <a:rPr lang="tr-TR" smtClean="0"/>
              <a:pPr/>
              <a:t>13.10.2025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D9F75050-0E15-4C5B-92B0-66D068882F1F}" type="datetimeFigureOut">
              <a:rPr lang="tr-TR" smtClean="0"/>
              <a:pPr/>
              <a:t>13.10.2025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3 Veri Yer Tutucusu"/>
          <p:cNvSpPr>
            <a:spLocks noGrp="1"/>
          </p:cNvSpPr>
          <p:nvPr>
            <p:ph type="dt" sz="half" idx="10"/>
          </p:nvPr>
        </p:nvSpPr>
        <p:spPr/>
        <p:txBody>
          <a:bodyPr/>
          <a:lstStyle/>
          <a:p>
            <a:fld id="{D9F75050-0E15-4C5B-92B0-66D068882F1F}" type="datetimeFigureOut">
              <a:rPr lang="tr-TR" smtClean="0"/>
              <a:pPr/>
              <a:t>13.10.2025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Veri Yer Tutucusu"/>
          <p:cNvSpPr>
            <a:spLocks noGrp="1"/>
          </p:cNvSpPr>
          <p:nvPr>
            <p:ph type="dt" sz="half" idx="10"/>
          </p:nvPr>
        </p:nvSpPr>
        <p:spPr/>
        <p:txBody>
          <a:bodyPr/>
          <a:lstStyle/>
          <a:p>
            <a:fld id="{D9F75050-0E15-4C5B-92B0-66D068882F1F}" type="datetimeFigureOut">
              <a:rPr lang="tr-TR" smtClean="0"/>
              <a:pPr/>
              <a:t>13.10.2025</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a:t>Asıl başlık stili için tıklatın</a:t>
            </a: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6 Veri Yer Tutucusu"/>
          <p:cNvSpPr>
            <a:spLocks noGrp="1"/>
          </p:cNvSpPr>
          <p:nvPr>
            <p:ph type="dt" sz="half" idx="10"/>
          </p:nvPr>
        </p:nvSpPr>
        <p:spPr/>
        <p:txBody>
          <a:bodyPr/>
          <a:lstStyle/>
          <a:p>
            <a:fld id="{D9F75050-0E15-4C5B-92B0-66D068882F1F}" type="datetimeFigureOut">
              <a:rPr lang="tr-TR" smtClean="0"/>
              <a:pPr/>
              <a:t>13.10.2025</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Veri Yer Tutucusu"/>
          <p:cNvSpPr>
            <a:spLocks noGrp="1"/>
          </p:cNvSpPr>
          <p:nvPr>
            <p:ph type="dt" sz="half" idx="10"/>
          </p:nvPr>
        </p:nvSpPr>
        <p:spPr/>
        <p:txBody>
          <a:bodyPr/>
          <a:lstStyle/>
          <a:p>
            <a:fld id="{D9F75050-0E15-4C5B-92B0-66D068882F1F}" type="datetimeFigureOut">
              <a:rPr lang="tr-TR" smtClean="0"/>
              <a:pPr/>
              <a:t>13.10.2025</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D9F75050-0E15-4C5B-92B0-66D068882F1F}" type="datetimeFigureOut">
              <a:rPr lang="tr-TR" smtClean="0"/>
              <a:pPr/>
              <a:t>13.10.2025</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p>
            <a:fld id="{D9F75050-0E15-4C5B-92B0-66D068882F1F}" type="datetimeFigureOut">
              <a:rPr lang="tr-TR" smtClean="0"/>
              <a:pPr/>
              <a:t>13.10.2025</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4 Veri Yer Tutucusu"/>
          <p:cNvSpPr>
            <a:spLocks noGrp="1"/>
          </p:cNvSpPr>
          <p:nvPr>
            <p:ph type="dt" sz="half" idx="10"/>
          </p:nvPr>
        </p:nvSpPr>
        <p:spPr/>
        <p:txBody>
          <a:bodyPr/>
          <a:lstStyle/>
          <a:p>
            <a:fld id="{D9F75050-0E15-4C5B-92B0-66D068882F1F}" type="datetimeFigureOut">
              <a:rPr lang="tr-TR" smtClean="0"/>
              <a:pPr/>
              <a:t>13.10.2025</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a:t>Asıl başlık stili için tıklatın</a:t>
            </a:r>
          </a:p>
        </p:txBody>
      </p:sp>
      <p:sp>
        <p:nvSpPr>
          <p:cNvPr id="3" name="2 Dikey Metin Yer Tutucusu"/>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D9F75050-0E15-4C5B-92B0-66D068882F1F}" type="datetimeFigureOut">
              <a:rPr lang="tr-TR" smtClean="0"/>
              <a:pPr/>
              <a:t>13.10.2025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10"/>
          </p:nvPr>
        </p:nvSpPr>
        <p:spPr/>
        <p:txBody>
          <a:bodyPr/>
          <a:lstStyle/>
          <a:p>
            <a:fld id="{D9F75050-0E15-4C5B-92B0-66D068882F1F}" type="datetimeFigureOut">
              <a:rPr lang="tr-TR" smtClean="0"/>
              <a:pPr/>
              <a:t>13.10.2025</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B1DEFA8C-F947-479F-BE07-76B6B3F80BF1}"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a:t>Asıl başlık stili için tıklatın</a:t>
            </a: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F75050-0E15-4C5B-92B0-66D068882F1F}" type="datetimeFigureOut">
              <a:rPr lang="tr-TR" smtClean="0"/>
              <a:pPr/>
              <a:t>13.10.2025</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DEFA8C-F947-479F-BE07-76B6B3F80BF1}"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ieeexplore.ieee.org/Xplore/home.jsp"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sciencedirect.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researchgate.net/"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lib.baskent.edu.tr/tr/hizmetler/uzaktan-erisim-proxy"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hyperlink" Target="http://terim.tuba.gov.tr/"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bmo.org.tr/"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www.kureselamaclar.org/" TargetMode="External"/><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188641"/>
            <a:ext cx="7772400" cy="3411810"/>
          </a:xfrm>
        </p:spPr>
        <p:txBody>
          <a:bodyPr>
            <a:normAutofit/>
          </a:bodyPr>
          <a:lstStyle/>
          <a:p>
            <a:r>
              <a:rPr lang="tr-TR" dirty="0">
                <a:solidFill>
                  <a:srgbClr val="FF0000"/>
                </a:solidFill>
              </a:rPr>
              <a:t>Araştırma Teknikleri  </a:t>
            </a:r>
            <a:br>
              <a:rPr lang="tr-TR" dirty="0"/>
            </a:br>
            <a:r>
              <a:rPr lang="tr-TR" dirty="0"/>
              <a:t>Mesleki Topluluklar</a:t>
            </a:r>
            <a:br>
              <a:rPr lang="tr-TR" dirty="0"/>
            </a:br>
            <a:r>
              <a:rPr lang="tr-TR" dirty="0">
                <a:solidFill>
                  <a:srgbClr val="FF0000"/>
                </a:solidFill>
              </a:rPr>
              <a:t>Birleşmiş Milletler Sürdürülebilir Kalkınma Hedefleri</a:t>
            </a:r>
          </a:p>
        </p:txBody>
      </p:sp>
      <p:sp>
        <p:nvSpPr>
          <p:cNvPr id="3" name="2 Alt Başlık"/>
          <p:cNvSpPr>
            <a:spLocks noGrp="1"/>
          </p:cNvSpPr>
          <p:nvPr>
            <p:ph type="subTitle" idx="1"/>
          </p:nvPr>
        </p:nvSpPr>
        <p:spPr/>
        <p:txBody>
          <a:bodyPr/>
          <a:lstStyle/>
          <a:p>
            <a:r>
              <a:rPr lang="tr-TR" dirty="0"/>
              <a:t>Doç. Dr. Emre Sümer</a:t>
            </a:r>
          </a:p>
          <a:p>
            <a:r>
              <a:rPr lang="tr-TR" dirty="0"/>
              <a:t>13 Ekim 2025</a:t>
            </a:r>
          </a:p>
          <a:p>
            <a:endParaRPr lang="tr-TR" dirty="0"/>
          </a:p>
          <a:p>
            <a:endParaRPr lang="tr-T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p:txBody>
          <a:bodyPr/>
          <a:lstStyle/>
          <a:p>
            <a:r>
              <a:rPr lang="tr-TR" dirty="0"/>
              <a:t>Başkent Üniversitesi Kütüphanesi</a:t>
            </a:r>
          </a:p>
        </p:txBody>
      </p:sp>
      <p:sp>
        <p:nvSpPr>
          <p:cNvPr id="3" name="2 Alt Başlık"/>
          <p:cNvSpPr>
            <a:spLocks noGrp="1"/>
          </p:cNvSpPr>
          <p:nvPr>
            <p:ph type="subTitle" idx="1"/>
          </p:nvPr>
        </p:nvSpPr>
        <p:spPr>
          <a:xfrm>
            <a:off x="0" y="3886200"/>
            <a:ext cx="9144000" cy="766936"/>
          </a:xfrm>
        </p:spPr>
        <p:txBody>
          <a:bodyPr>
            <a:normAutofit fontScale="85000" lnSpcReduction="10000"/>
          </a:bodyPr>
          <a:lstStyle/>
          <a:p>
            <a:r>
              <a:rPr lang="tr-TR" dirty="0"/>
              <a:t>https://lib.baskent.edu.tr/tr/kaynaklar/elektronik-kaynaklar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611560" y="0"/>
            <a:ext cx="7772400" cy="650503"/>
          </a:xfrm>
        </p:spPr>
        <p:txBody>
          <a:bodyPr>
            <a:normAutofit fontScale="90000"/>
          </a:bodyPr>
          <a:lstStyle/>
          <a:p>
            <a:r>
              <a:rPr lang="tr-TR" dirty="0"/>
              <a:t>IEEE </a:t>
            </a:r>
            <a:r>
              <a:rPr lang="tr-TR" dirty="0" err="1"/>
              <a:t>Digital</a:t>
            </a:r>
            <a:r>
              <a:rPr lang="tr-TR" dirty="0"/>
              <a:t> </a:t>
            </a:r>
            <a:r>
              <a:rPr lang="tr-TR" dirty="0" err="1"/>
              <a:t>Library</a:t>
            </a:r>
            <a:endParaRPr lang="tr-TR" dirty="0"/>
          </a:p>
        </p:txBody>
      </p:sp>
      <p:sp>
        <p:nvSpPr>
          <p:cNvPr id="3" name="2 Alt Başlık"/>
          <p:cNvSpPr>
            <a:spLocks noGrp="1"/>
          </p:cNvSpPr>
          <p:nvPr>
            <p:ph type="subTitle" idx="1"/>
          </p:nvPr>
        </p:nvSpPr>
        <p:spPr>
          <a:xfrm>
            <a:off x="827584" y="548680"/>
            <a:ext cx="7848872" cy="550912"/>
          </a:xfrm>
        </p:spPr>
        <p:txBody>
          <a:bodyPr>
            <a:normAutofit lnSpcReduction="10000"/>
          </a:bodyPr>
          <a:lstStyle/>
          <a:p>
            <a:r>
              <a:rPr lang="tr-TR" dirty="0">
                <a:hlinkClick r:id="rId2"/>
              </a:rPr>
              <a:t>https://ieeexplore.ieee.org/Xplore/home.jsp</a:t>
            </a:r>
            <a:endParaRPr lang="tr-TR" dirty="0"/>
          </a:p>
        </p:txBody>
      </p:sp>
      <p:pic>
        <p:nvPicPr>
          <p:cNvPr id="4" name="Picture 2"/>
          <p:cNvPicPr>
            <a:picLocks noChangeAspect="1" noChangeArrowheads="1"/>
          </p:cNvPicPr>
          <p:nvPr/>
        </p:nvPicPr>
        <p:blipFill>
          <a:blip r:embed="rId3" cstate="print"/>
          <a:srcRect/>
          <a:stretch>
            <a:fillRect/>
          </a:stretch>
        </p:blipFill>
        <p:spPr bwMode="auto">
          <a:xfrm>
            <a:off x="1079612" y="1099592"/>
            <a:ext cx="7344816" cy="5624409"/>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757808" y="3557"/>
            <a:ext cx="7772400" cy="792088"/>
          </a:xfrm>
        </p:spPr>
        <p:txBody>
          <a:bodyPr/>
          <a:lstStyle/>
          <a:p>
            <a:r>
              <a:rPr lang="tr-TR" dirty="0" err="1"/>
              <a:t>ScienceDirect</a:t>
            </a:r>
            <a:endParaRPr lang="tr-TR" dirty="0"/>
          </a:p>
        </p:txBody>
      </p:sp>
      <p:sp>
        <p:nvSpPr>
          <p:cNvPr id="3" name="2 Alt Başlık"/>
          <p:cNvSpPr>
            <a:spLocks noGrp="1"/>
          </p:cNvSpPr>
          <p:nvPr>
            <p:ph type="subTitle" idx="1"/>
          </p:nvPr>
        </p:nvSpPr>
        <p:spPr>
          <a:xfrm>
            <a:off x="503040" y="760811"/>
            <a:ext cx="8640960" cy="694928"/>
          </a:xfrm>
        </p:spPr>
        <p:txBody>
          <a:bodyPr/>
          <a:lstStyle/>
          <a:p>
            <a:r>
              <a:rPr lang="tr-TR" dirty="0">
                <a:hlinkClick r:id="rId3"/>
              </a:rPr>
              <a:t>https://www.sciencedirect.com/</a:t>
            </a:r>
            <a:endParaRPr lang="tr-TR" dirty="0"/>
          </a:p>
          <a:p>
            <a:endParaRPr lang="tr-TR" dirty="0"/>
          </a:p>
        </p:txBody>
      </p:sp>
      <p:pic>
        <p:nvPicPr>
          <p:cNvPr id="4" name="Picture 2"/>
          <p:cNvPicPr>
            <a:picLocks noChangeAspect="1" noChangeArrowheads="1"/>
          </p:cNvPicPr>
          <p:nvPr/>
        </p:nvPicPr>
        <p:blipFill>
          <a:blip r:embed="rId4" cstate="print"/>
          <a:srcRect/>
          <a:stretch>
            <a:fillRect/>
          </a:stretch>
        </p:blipFill>
        <p:spPr bwMode="auto">
          <a:xfrm>
            <a:off x="300279" y="1385392"/>
            <a:ext cx="8687458" cy="5472608"/>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2"/>
          <a:stretch>
            <a:fillRect/>
          </a:stretch>
        </p:blipFill>
        <p:spPr>
          <a:xfrm>
            <a:off x="251520" y="151410"/>
            <a:ext cx="4464496" cy="3474461"/>
          </a:xfrm>
          <a:prstGeom prst="rect">
            <a:avLst/>
          </a:prstGeom>
        </p:spPr>
      </p:pic>
      <p:pic>
        <p:nvPicPr>
          <p:cNvPr id="2" name="Resim 1"/>
          <p:cNvPicPr>
            <a:picLocks noChangeAspect="1"/>
          </p:cNvPicPr>
          <p:nvPr/>
        </p:nvPicPr>
        <p:blipFill>
          <a:blip r:embed="rId3"/>
          <a:stretch>
            <a:fillRect/>
          </a:stretch>
        </p:blipFill>
        <p:spPr>
          <a:xfrm>
            <a:off x="1835696" y="2708920"/>
            <a:ext cx="7161344" cy="3888432"/>
          </a:xfrm>
          <a:prstGeom prst="rect">
            <a:avLst/>
          </a:prstGeom>
        </p:spPr>
      </p:pic>
      <p:sp>
        <p:nvSpPr>
          <p:cNvPr id="5" name="Dikdörtgen 4"/>
          <p:cNvSpPr/>
          <p:nvPr/>
        </p:nvSpPr>
        <p:spPr>
          <a:xfrm>
            <a:off x="5155246" y="151410"/>
            <a:ext cx="3816424" cy="646331"/>
          </a:xfrm>
          <a:prstGeom prst="rect">
            <a:avLst/>
          </a:prstGeom>
        </p:spPr>
        <p:txBody>
          <a:bodyPr wrap="square">
            <a:spAutoFit/>
          </a:bodyPr>
          <a:lstStyle/>
          <a:p>
            <a:r>
              <a:rPr lang="tr-TR" sz="3600" dirty="0"/>
              <a:t>Google </a:t>
            </a:r>
            <a:r>
              <a:rPr lang="tr-TR" sz="3600" dirty="0" err="1"/>
              <a:t>Scholar</a:t>
            </a:r>
            <a:endParaRPr lang="tr-TR"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611560" y="-315416"/>
            <a:ext cx="7772400" cy="1470025"/>
          </a:xfrm>
        </p:spPr>
        <p:txBody>
          <a:bodyPr/>
          <a:lstStyle/>
          <a:p>
            <a:r>
              <a:rPr lang="tr-TR" dirty="0" err="1"/>
              <a:t>ResearchGate</a:t>
            </a:r>
            <a:endParaRPr lang="tr-TR" dirty="0"/>
          </a:p>
        </p:txBody>
      </p:sp>
      <p:sp>
        <p:nvSpPr>
          <p:cNvPr id="3" name="2 Alt Başlık"/>
          <p:cNvSpPr>
            <a:spLocks noGrp="1"/>
          </p:cNvSpPr>
          <p:nvPr>
            <p:ph type="subTitle" idx="1"/>
          </p:nvPr>
        </p:nvSpPr>
        <p:spPr>
          <a:xfrm>
            <a:off x="279167" y="624769"/>
            <a:ext cx="8640960" cy="622920"/>
          </a:xfrm>
        </p:spPr>
        <p:txBody>
          <a:bodyPr/>
          <a:lstStyle/>
          <a:p>
            <a:r>
              <a:rPr lang="tr-TR" dirty="0">
                <a:hlinkClick r:id="rId3"/>
              </a:rPr>
              <a:t>https://www.researchgate.net/</a:t>
            </a:r>
            <a:endParaRPr lang="tr-TR" dirty="0"/>
          </a:p>
        </p:txBody>
      </p:sp>
      <p:pic>
        <p:nvPicPr>
          <p:cNvPr id="4" name="Resim 3"/>
          <p:cNvPicPr>
            <a:picLocks noChangeAspect="1"/>
          </p:cNvPicPr>
          <p:nvPr/>
        </p:nvPicPr>
        <p:blipFill>
          <a:blip r:embed="rId4"/>
          <a:stretch>
            <a:fillRect/>
          </a:stretch>
        </p:blipFill>
        <p:spPr>
          <a:xfrm>
            <a:off x="539552" y="1340768"/>
            <a:ext cx="8120191" cy="518457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757808" y="260648"/>
            <a:ext cx="7772400" cy="1470025"/>
          </a:xfrm>
        </p:spPr>
        <p:txBody>
          <a:bodyPr/>
          <a:lstStyle/>
          <a:p>
            <a:r>
              <a:rPr lang="tr-TR" dirty="0"/>
              <a:t>AI Tools</a:t>
            </a:r>
          </a:p>
        </p:txBody>
      </p:sp>
      <p:sp>
        <p:nvSpPr>
          <p:cNvPr id="3" name="2 Alt Başlık"/>
          <p:cNvSpPr>
            <a:spLocks noGrp="1"/>
          </p:cNvSpPr>
          <p:nvPr>
            <p:ph type="subTitle" idx="1"/>
          </p:nvPr>
        </p:nvSpPr>
        <p:spPr>
          <a:xfrm>
            <a:off x="323528" y="1340768"/>
            <a:ext cx="8640960" cy="1752600"/>
          </a:xfrm>
        </p:spPr>
        <p:txBody>
          <a:bodyPr>
            <a:normAutofit/>
          </a:bodyPr>
          <a:lstStyle/>
          <a:p>
            <a:pPr algn="l"/>
            <a:r>
              <a:rPr lang="tr-TR" sz="2400" dirty="0" err="1">
                <a:solidFill>
                  <a:srgbClr val="FF0000"/>
                </a:solidFill>
              </a:rPr>
              <a:t>Semantic</a:t>
            </a:r>
            <a:r>
              <a:rPr lang="tr-TR" sz="2400" dirty="0">
                <a:solidFill>
                  <a:srgbClr val="FF0000"/>
                </a:solidFill>
              </a:rPr>
              <a:t> </a:t>
            </a:r>
            <a:r>
              <a:rPr lang="tr-TR" sz="2400" dirty="0" err="1">
                <a:solidFill>
                  <a:srgbClr val="FF0000"/>
                </a:solidFill>
              </a:rPr>
              <a:t>Scholar</a:t>
            </a:r>
            <a:r>
              <a:rPr lang="tr-TR" sz="2400" dirty="0">
                <a:solidFill>
                  <a:srgbClr val="FF0000"/>
                </a:solidFill>
              </a:rPr>
              <a:t>: </a:t>
            </a:r>
          </a:p>
          <a:p>
            <a:pPr algn="l"/>
            <a:r>
              <a:rPr lang="tr-TR" sz="2400" dirty="0">
                <a:solidFill>
                  <a:schemeClr val="tx1"/>
                </a:solidFill>
              </a:rPr>
              <a:t>Tüm disiplinleri kapsayan yaklaşık 200 milyon makaleye sahip, ücretsiz ve yapay zeka destekli bir akademik arama motorudur.</a:t>
            </a:r>
          </a:p>
        </p:txBody>
      </p:sp>
      <p:sp>
        <p:nvSpPr>
          <p:cNvPr id="5" name="Dikdörtgen 4"/>
          <p:cNvSpPr/>
          <p:nvPr/>
        </p:nvSpPr>
        <p:spPr>
          <a:xfrm>
            <a:off x="323528" y="2755294"/>
            <a:ext cx="8630834" cy="1569660"/>
          </a:xfrm>
          <a:prstGeom prst="rect">
            <a:avLst/>
          </a:prstGeom>
        </p:spPr>
        <p:txBody>
          <a:bodyPr wrap="square">
            <a:spAutoFit/>
          </a:bodyPr>
          <a:lstStyle/>
          <a:p>
            <a:r>
              <a:rPr lang="tr-TR" sz="2400" dirty="0" err="1">
                <a:solidFill>
                  <a:srgbClr val="FF0000"/>
                </a:solidFill>
              </a:rPr>
              <a:t>Scite</a:t>
            </a:r>
            <a:r>
              <a:rPr lang="tr-TR" sz="2400" dirty="0">
                <a:solidFill>
                  <a:srgbClr val="FF0000"/>
                </a:solidFill>
              </a:rPr>
              <a:t>_</a:t>
            </a:r>
          </a:p>
          <a:p>
            <a:r>
              <a:rPr lang="tr-TR" sz="2400" dirty="0" err="1"/>
              <a:t>Scite</a:t>
            </a:r>
            <a:r>
              <a:rPr lang="tr-TR" sz="2400" dirty="0"/>
              <a:t>, araştırmacıların bilimsel literatürü Akıllı Atıflar aracılığıyla daha iyi keşfetmelerine ve değerlendirmelerine yardımcı olan yapay zeka destekli bir araştırma aracıdır.</a:t>
            </a:r>
          </a:p>
        </p:txBody>
      </p:sp>
      <p:sp>
        <p:nvSpPr>
          <p:cNvPr id="6" name="Dikdörtgen 5"/>
          <p:cNvSpPr/>
          <p:nvPr/>
        </p:nvSpPr>
        <p:spPr>
          <a:xfrm>
            <a:off x="323528" y="4400652"/>
            <a:ext cx="8567836" cy="2677656"/>
          </a:xfrm>
          <a:prstGeom prst="rect">
            <a:avLst/>
          </a:prstGeom>
        </p:spPr>
        <p:txBody>
          <a:bodyPr wrap="square">
            <a:spAutoFit/>
          </a:bodyPr>
          <a:lstStyle/>
          <a:p>
            <a:r>
              <a:rPr lang="tr-TR" sz="2400" dirty="0" err="1">
                <a:solidFill>
                  <a:srgbClr val="FF0000"/>
                </a:solidFill>
              </a:rPr>
              <a:t>Dimensions</a:t>
            </a:r>
            <a:r>
              <a:rPr lang="tr-TR" sz="2400" dirty="0">
                <a:solidFill>
                  <a:srgbClr val="FF0000"/>
                </a:solidFill>
              </a:rPr>
              <a:t> AI</a:t>
            </a:r>
          </a:p>
          <a:p>
            <a:pPr lvl="0" eaLnBrk="0" fontAlgn="base" hangingPunct="0">
              <a:spcBef>
                <a:spcPct val="0"/>
              </a:spcBef>
              <a:spcAft>
                <a:spcPct val="0"/>
              </a:spcAft>
            </a:pPr>
            <a:r>
              <a:rPr lang="tr-TR" altLang="tr-TR" sz="2400" dirty="0"/>
              <a:t>Yayınlar, atıflar, veri setleri, maddi destek (</a:t>
            </a:r>
            <a:r>
              <a:rPr lang="tr-TR" altLang="tr-TR" sz="2400" dirty="0" err="1"/>
              <a:t>grants</a:t>
            </a:r>
            <a:r>
              <a:rPr lang="tr-TR" altLang="tr-TR" sz="2400" dirty="0"/>
              <a:t>), patentler, klinik denemeler, politika dokümanları gibi farklı araştırma bileşenlerini tek bir platformda birleştirir. Bu bileşenler arasındaki bağlantılar sayesinde “hangi proje bu makaleyi desteklemiş?”, “bu araştırma hangi patentle ilişkili?” gibi sorulara doğrudan bakılabilir. </a:t>
            </a:r>
          </a:p>
          <a:p>
            <a:r>
              <a:rPr lang="tr-TR" sz="2400" dirty="0"/>
              <a:t> </a:t>
            </a:r>
          </a:p>
        </p:txBody>
      </p:sp>
    </p:spTree>
    <p:extLst>
      <p:ext uri="{BB962C8B-B14F-4D97-AF65-F5344CB8AC3E}">
        <p14:creationId xmlns:p14="http://schemas.microsoft.com/office/powerpoint/2010/main" val="2450998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757808" y="260648"/>
            <a:ext cx="7772400" cy="1470025"/>
          </a:xfrm>
        </p:spPr>
        <p:txBody>
          <a:bodyPr/>
          <a:lstStyle/>
          <a:p>
            <a:r>
              <a:rPr lang="tr-TR" dirty="0"/>
              <a:t>Veri Seti Araştırmaları</a:t>
            </a:r>
          </a:p>
        </p:txBody>
      </p:sp>
      <p:sp>
        <p:nvSpPr>
          <p:cNvPr id="3" name="2 Alt Başlık"/>
          <p:cNvSpPr>
            <a:spLocks noGrp="1"/>
          </p:cNvSpPr>
          <p:nvPr>
            <p:ph type="subTitle" idx="1"/>
          </p:nvPr>
        </p:nvSpPr>
        <p:spPr>
          <a:xfrm>
            <a:off x="323528" y="1916832"/>
            <a:ext cx="8640960" cy="4248472"/>
          </a:xfrm>
        </p:spPr>
        <p:txBody>
          <a:bodyPr>
            <a:normAutofit lnSpcReduction="10000"/>
          </a:bodyPr>
          <a:lstStyle/>
          <a:p>
            <a:pPr marL="342900" indent="-342900" algn="l">
              <a:buFont typeface="Arial" panose="020B0604020202020204" pitchFamily="34" charset="0"/>
              <a:buChar char="•"/>
            </a:pPr>
            <a:r>
              <a:rPr lang="tr-TR" sz="2400" dirty="0" err="1">
                <a:solidFill>
                  <a:srgbClr val="FF0000"/>
                </a:solidFill>
              </a:rPr>
              <a:t>Paperswithcode</a:t>
            </a:r>
            <a:r>
              <a:rPr lang="tr-TR" sz="2400" dirty="0">
                <a:solidFill>
                  <a:schemeClr val="tx1"/>
                </a:solidFill>
              </a:rPr>
              <a:t> – Yapay zeka araştırmaları</a:t>
            </a:r>
          </a:p>
          <a:p>
            <a:pPr marL="342900" indent="-342900" algn="l">
              <a:buFont typeface="Arial" panose="020B0604020202020204" pitchFamily="34" charset="0"/>
              <a:buChar char="•"/>
            </a:pPr>
            <a:r>
              <a:rPr lang="tr-TR" sz="2400" dirty="0" err="1">
                <a:solidFill>
                  <a:srgbClr val="FF0000"/>
                </a:solidFill>
              </a:rPr>
              <a:t>Kaggle</a:t>
            </a:r>
            <a:r>
              <a:rPr lang="tr-TR" sz="2400" dirty="0">
                <a:solidFill>
                  <a:srgbClr val="FF0000"/>
                </a:solidFill>
              </a:rPr>
              <a:t> </a:t>
            </a:r>
            <a:r>
              <a:rPr lang="tr-TR" sz="2400" dirty="0" err="1">
                <a:solidFill>
                  <a:srgbClr val="FF0000"/>
                </a:solidFill>
              </a:rPr>
              <a:t>Datasets</a:t>
            </a:r>
            <a:r>
              <a:rPr lang="tr-TR" sz="2400" dirty="0">
                <a:solidFill>
                  <a:srgbClr val="FF0000"/>
                </a:solidFill>
              </a:rPr>
              <a:t> </a:t>
            </a:r>
            <a:r>
              <a:rPr lang="tr-TR" sz="2400" dirty="0">
                <a:solidFill>
                  <a:schemeClr val="tx1"/>
                </a:solidFill>
              </a:rPr>
              <a:t>- Makine öğrenmesi, görüntü işleme, doğal dil işleme ve finansal veriler</a:t>
            </a:r>
          </a:p>
          <a:p>
            <a:pPr marL="342900" indent="-342900" algn="l">
              <a:buFont typeface="Arial" panose="020B0604020202020204" pitchFamily="34" charset="0"/>
              <a:buChar char="•"/>
            </a:pPr>
            <a:r>
              <a:rPr lang="tr-TR" sz="2400" dirty="0">
                <a:solidFill>
                  <a:srgbClr val="FF0000"/>
                </a:solidFill>
              </a:rPr>
              <a:t>Google </a:t>
            </a:r>
            <a:r>
              <a:rPr lang="tr-TR" sz="2400" dirty="0" err="1">
                <a:solidFill>
                  <a:srgbClr val="FF0000"/>
                </a:solidFill>
              </a:rPr>
              <a:t>Dataset</a:t>
            </a:r>
            <a:r>
              <a:rPr lang="tr-TR" sz="2400" dirty="0">
                <a:solidFill>
                  <a:srgbClr val="FF0000"/>
                </a:solidFill>
              </a:rPr>
              <a:t> </a:t>
            </a:r>
            <a:r>
              <a:rPr lang="tr-TR" sz="2400" dirty="0" err="1">
                <a:solidFill>
                  <a:srgbClr val="FF0000"/>
                </a:solidFill>
              </a:rPr>
              <a:t>Search</a:t>
            </a:r>
            <a:r>
              <a:rPr lang="tr-TR" sz="2400" dirty="0">
                <a:solidFill>
                  <a:schemeClr val="tx1"/>
                </a:solidFill>
              </a:rPr>
              <a:t> - </a:t>
            </a:r>
            <a:r>
              <a:rPr lang="it-IT" sz="2400" dirty="0">
                <a:solidFill>
                  <a:schemeClr val="tx1"/>
                </a:solidFill>
              </a:rPr>
              <a:t>Google’ın veri seti arama motoru</a:t>
            </a:r>
            <a:endParaRPr lang="tr-TR" sz="2400" dirty="0">
              <a:solidFill>
                <a:schemeClr val="tx1"/>
              </a:solidFill>
            </a:endParaRPr>
          </a:p>
          <a:p>
            <a:pPr marL="342900" indent="-342900" algn="l">
              <a:buFont typeface="Arial" panose="020B0604020202020204" pitchFamily="34" charset="0"/>
              <a:buChar char="•"/>
            </a:pPr>
            <a:r>
              <a:rPr lang="tr-TR" sz="2400" dirty="0">
                <a:solidFill>
                  <a:srgbClr val="FF0000"/>
                </a:solidFill>
              </a:rPr>
              <a:t>AWS </a:t>
            </a:r>
            <a:r>
              <a:rPr lang="tr-TR" sz="2400" dirty="0" err="1">
                <a:solidFill>
                  <a:srgbClr val="FF0000"/>
                </a:solidFill>
              </a:rPr>
              <a:t>Public</a:t>
            </a:r>
            <a:r>
              <a:rPr lang="tr-TR" sz="2400" dirty="0">
                <a:solidFill>
                  <a:srgbClr val="FF0000"/>
                </a:solidFill>
              </a:rPr>
              <a:t> </a:t>
            </a:r>
            <a:r>
              <a:rPr lang="tr-TR" sz="2400" dirty="0" err="1">
                <a:solidFill>
                  <a:srgbClr val="FF0000"/>
                </a:solidFill>
              </a:rPr>
              <a:t>Datasets</a:t>
            </a:r>
            <a:r>
              <a:rPr lang="tr-TR" sz="2400" dirty="0">
                <a:solidFill>
                  <a:schemeClr val="tx1"/>
                </a:solidFill>
              </a:rPr>
              <a:t> - Amazon’un barındırdığı büyük ölçekli açık veri depoları (örneğin </a:t>
            </a:r>
            <a:r>
              <a:rPr lang="tr-TR" sz="2400" dirty="0" err="1">
                <a:solidFill>
                  <a:schemeClr val="tx1"/>
                </a:solidFill>
              </a:rPr>
              <a:t>genomik</a:t>
            </a:r>
            <a:r>
              <a:rPr lang="tr-TR" sz="2400" dirty="0">
                <a:solidFill>
                  <a:schemeClr val="tx1"/>
                </a:solidFill>
              </a:rPr>
              <a:t>, uydu, meteoroloji verileri)</a:t>
            </a:r>
          </a:p>
          <a:p>
            <a:pPr marL="342900" indent="-342900" algn="l">
              <a:buFont typeface="Arial" panose="020B0604020202020204" pitchFamily="34" charset="0"/>
              <a:buChar char="•"/>
            </a:pPr>
            <a:r>
              <a:rPr lang="tr-TR" sz="2400" dirty="0">
                <a:solidFill>
                  <a:srgbClr val="FF0000"/>
                </a:solidFill>
              </a:rPr>
              <a:t>Microsoft Research Open Data</a:t>
            </a:r>
            <a:r>
              <a:rPr lang="tr-TR" sz="2400" dirty="0">
                <a:solidFill>
                  <a:schemeClr val="tx1"/>
                </a:solidFill>
              </a:rPr>
              <a:t> -  Microsoft’un açık araştırma veri </a:t>
            </a:r>
            <a:r>
              <a:rPr lang="tr-TR" sz="2400" dirty="0" err="1">
                <a:solidFill>
                  <a:schemeClr val="tx1"/>
                </a:solidFill>
              </a:rPr>
              <a:t>portalı</a:t>
            </a:r>
            <a:r>
              <a:rPr lang="tr-TR" sz="2400" dirty="0">
                <a:solidFill>
                  <a:schemeClr val="tx1"/>
                </a:solidFill>
              </a:rPr>
              <a:t>; özellikle AI, bilgisayar görüsü ve dil modelleriyle ilgili veri setleri içerir.</a:t>
            </a:r>
          </a:p>
          <a:p>
            <a:pPr marL="342900" indent="-342900" algn="l">
              <a:buFont typeface="Arial" panose="020B0604020202020204" pitchFamily="34" charset="0"/>
              <a:buChar char="•"/>
            </a:pPr>
            <a:r>
              <a:rPr lang="tr-TR" sz="2400" dirty="0">
                <a:solidFill>
                  <a:srgbClr val="FF0000"/>
                </a:solidFill>
              </a:rPr>
              <a:t>Open Data Portal (EU)</a:t>
            </a:r>
            <a:r>
              <a:rPr lang="tr-TR" sz="2400" dirty="0">
                <a:solidFill>
                  <a:schemeClr val="tx1"/>
                </a:solidFill>
              </a:rPr>
              <a:t> - Avrupa Birliği’nin açık veri deposu; ekonomi, çevre, ulaşım, enerji gibi alanlarda veri sunar.</a:t>
            </a:r>
          </a:p>
          <a:p>
            <a:pPr marL="342900" indent="-342900" algn="l">
              <a:buFont typeface="Arial" panose="020B0604020202020204" pitchFamily="34" charset="0"/>
              <a:buChar char="•"/>
            </a:pPr>
            <a:endParaRPr lang="tr-TR" sz="2400" dirty="0">
              <a:solidFill>
                <a:schemeClr val="tx1"/>
              </a:solidFill>
            </a:endParaRPr>
          </a:p>
        </p:txBody>
      </p:sp>
    </p:spTree>
    <p:extLst>
      <p:ext uri="{BB962C8B-B14F-4D97-AF65-F5344CB8AC3E}">
        <p14:creationId xmlns:p14="http://schemas.microsoft.com/office/powerpoint/2010/main" val="1576006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p:txBody>
          <a:bodyPr/>
          <a:lstStyle/>
          <a:p>
            <a:r>
              <a:rPr lang="tr-TR" dirty="0"/>
              <a:t>Kütüphane – Proxy Hesabı Açma</a:t>
            </a:r>
          </a:p>
        </p:txBody>
      </p:sp>
      <p:sp>
        <p:nvSpPr>
          <p:cNvPr id="3" name="2 Alt Başlık"/>
          <p:cNvSpPr>
            <a:spLocks noGrp="1"/>
          </p:cNvSpPr>
          <p:nvPr>
            <p:ph type="subTitle" idx="1"/>
          </p:nvPr>
        </p:nvSpPr>
        <p:spPr>
          <a:xfrm>
            <a:off x="323528" y="3886200"/>
            <a:ext cx="8640960" cy="1752600"/>
          </a:xfrm>
        </p:spPr>
        <p:txBody>
          <a:bodyPr/>
          <a:lstStyle/>
          <a:p>
            <a:r>
              <a:rPr lang="tr-TR" dirty="0">
                <a:hlinkClick r:id="rId3"/>
              </a:rPr>
              <a:t>http://lib.baskent.edu.tr/tr/hizmetler/uzaktan-erisim-proxy</a:t>
            </a:r>
            <a:endParaRPr lang="tr-T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2"/>
          <a:stretch>
            <a:fillRect/>
          </a:stretch>
        </p:blipFill>
        <p:spPr>
          <a:xfrm>
            <a:off x="1259632" y="1268760"/>
            <a:ext cx="6480720" cy="5482339"/>
          </a:xfrm>
          <a:prstGeom prst="rect">
            <a:avLst/>
          </a:prstGeom>
        </p:spPr>
      </p:pic>
      <p:sp>
        <p:nvSpPr>
          <p:cNvPr id="5" name="Dikdörtgen 4"/>
          <p:cNvSpPr/>
          <p:nvPr/>
        </p:nvSpPr>
        <p:spPr>
          <a:xfrm>
            <a:off x="1427046" y="404664"/>
            <a:ext cx="5953874" cy="769441"/>
          </a:xfrm>
          <a:prstGeom prst="rect">
            <a:avLst/>
          </a:prstGeom>
        </p:spPr>
        <p:txBody>
          <a:bodyPr wrap="none">
            <a:spAutoFit/>
          </a:bodyPr>
          <a:lstStyle/>
          <a:p>
            <a:pPr algn="ctr" fontAlgn="base"/>
            <a:r>
              <a:rPr lang="tr-TR" sz="4400" dirty="0">
                <a:solidFill>
                  <a:srgbClr val="646464"/>
                </a:solidFill>
                <a:latin typeface="Source Sans Pro"/>
              </a:rPr>
              <a:t>Uzaktan Erişim (Proxy)</a:t>
            </a:r>
            <a:endParaRPr lang="tr-TR" sz="4400" b="0" i="0" dirty="0">
              <a:solidFill>
                <a:srgbClr val="646464"/>
              </a:solidFill>
              <a:effectLst/>
              <a:latin typeface="Source Sans Pr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sim 1"/>
          <p:cNvPicPr>
            <a:picLocks noChangeAspect="1"/>
          </p:cNvPicPr>
          <p:nvPr/>
        </p:nvPicPr>
        <p:blipFill>
          <a:blip r:embed="rId2"/>
          <a:stretch>
            <a:fillRect/>
          </a:stretch>
        </p:blipFill>
        <p:spPr>
          <a:xfrm>
            <a:off x="107504" y="1124744"/>
            <a:ext cx="3312368" cy="4715378"/>
          </a:xfrm>
          <a:prstGeom prst="rect">
            <a:avLst/>
          </a:prstGeom>
        </p:spPr>
      </p:pic>
      <p:pic>
        <p:nvPicPr>
          <p:cNvPr id="5" name="Resim 4"/>
          <p:cNvPicPr>
            <a:picLocks noChangeAspect="1"/>
          </p:cNvPicPr>
          <p:nvPr/>
        </p:nvPicPr>
        <p:blipFill>
          <a:blip r:embed="rId3"/>
          <a:stretch>
            <a:fillRect/>
          </a:stretch>
        </p:blipFill>
        <p:spPr>
          <a:xfrm>
            <a:off x="3635896" y="1988840"/>
            <a:ext cx="5291294" cy="2699154"/>
          </a:xfrm>
          <a:prstGeom prst="rect">
            <a:avLst/>
          </a:prstGeom>
        </p:spPr>
      </p:pic>
      <p:sp>
        <p:nvSpPr>
          <p:cNvPr id="3" name="Dikdörtgen 2"/>
          <p:cNvSpPr/>
          <p:nvPr/>
        </p:nvSpPr>
        <p:spPr>
          <a:xfrm>
            <a:off x="508119" y="188640"/>
            <a:ext cx="5345309" cy="707886"/>
          </a:xfrm>
          <a:prstGeom prst="rect">
            <a:avLst/>
          </a:prstGeom>
        </p:spPr>
        <p:txBody>
          <a:bodyPr wrap="none">
            <a:spAutoFit/>
          </a:bodyPr>
          <a:lstStyle/>
          <a:p>
            <a:r>
              <a:rPr lang="tr-TR" sz="4000" dirty="0"/>
              <a:t>Bilimsel Terimler Sözlüğü</a:t>
            </a:r>
          </a:p>
        </p:txBody>
      </p:sp>
      <p:sp>
        <p:nvSpPr>
          <p:cNvPr id="4" name="Dikdörtgen 3"/>
          <p:cNvSpPr/>
          <p:nvPr/>
        </p:nvSpPr>
        <p:spPr>
          <a:xfrm>
            <a:off x="3779912" y="1268760"/>
            <a:ext cx="4772397" cy="646331"/>
          </a:xfrm>
          <a:prstGeom prst="rect">
            <a:avLst/>
          </a:prstGeom>
        </p:spPr>
        <p:txBody>
          <a:bodyPr wrap="none">
            <a:spAutoFit/>
          </a:bodyPr>
          <a:lstStyle/>
          <a:p>
            <a:r>
              <a:rPr lang="tr-TR" sz="3600" dirty="0">
                <a:hlinkClick r:id="rId4"/>
              </a:rPr>
              <a:t>http://terim.tuba.gov.tr/</a:t>
            </a:r>
            <a:endParaRPr lang="tr-TR" sz="3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p:nvPr>
        </p:nvSpPr>
        <p:spPr>
          <a:xfrm>
            <a:off x="757808" y="404664"/>
            <a:ext cx="7772400" cy="1470025"/>
          </a:xfrm>
        </p:spPr>
        <p:txBody>
          <a:bodyPr/>
          <a:lstStyle/>
          <a:p>
            <a:r>
              <a:rPr lang="tr-TR" dirty="0"/>
              <a:t>Mesleki Topluluklar</a:t>
            </a:r>
          </a:p>
        </p:txBody>
      </p:sp>
      <p:sp>
        <p:nvSpPr>
          <p:cNvPr id="3" name="2 Alt Başlık"/>
          <p:cNvSpPr>
            <a:spLocks noGrp="1"/>
          </p:cNvSpPr>
          <p:nvPr>
            <p:ph type="subTitle" idx="1"/>
          </p:nvPr>
        </p:nvSpPr>
        <p:spPr>
          <a:xfrm>
            <a:off x="323528" y="1988840"/>
            <a:ext cx="8640960" cy="4176464"/>
          </a:xfrm>
        </p:spPr>
        <p:txBody>
          <a:bodyPr>
            <a:normAutofit/>
          </a:bodyPr>
          <a:lstStyle/>
          <a:p>
            <a:r>
              <a:rPr lang="tr-TR" dirty="0">
                <a:solidFill>
                  <a:srgbClr val="FF0000"/>
                </a:solidFill>
              </a:rPr>
              <a:t>TMMOB Bilgisayar Mühendisleri Odası</a:t>
            </a:r>
          </a:p>
          <a:p>
            <a:r>
              <a:rPr lang="tr-TR" dirty="0">
                <a:solidFill>
                  <a:srgbClr val="FF0000"/>
                </a:solidFill>
                <a:hlinkClick r:id="rId3"/>
              </a:rPr>
              <a:t>https://www.bmo.org.tr/</a:t>
            </a:r>
            <a:endParaRPr lang="tr-TR" dirty="0">
              <a:solidFill>
                <a:srgbClr val="FF0000"/>
              </a:solidFill>
            </a:endParaRPr>
          </a:p>
          <a:p>
            <a:endParaRPr lang="tr-TR" dirty="0">
              <a:solidFill>
                <a:srgbClr val="FF0000"/>
              </a:solidFill>
            </a:endParaRPr>
          </a:p>
          <a:p>
            <a:r>
              <a:rPr lang="en-US" dirty="0">
                <a:solidFill>
                  <a:srgbClr val="FF0000"/>
                </a:solidFill>
              </a:rPr>
              <a:t>ACM (Association for Computing Machinery )</a:t>
            </a:r>
            <a:endParaRPr lang="tr-TR" dirty="0">
              <a:solidFill>
                <a:srgbClr val="FF0000"/>
              </a:solidFill>
            </a:endParaRPr>
          </a:p>
          <a:p>
            <a:endParaRPr lang="tr-TR" dirty="0">
              <a:solidFill>
                <a:srgbClr val="FF0000"/>
              </a:solidFill>
            </a:endParaRPr>
          </a:p>
          <a:p>
            <a:r>
              <a:rPr lang="tr-TR" dirty="0">
                <a:solidFill>
                  <a:srgbClr val="FF0000"/>
                </a:solidFill>
              </a:rPr>
              <a:t>IEEE </a:t>
            </a:r>
            <a:r>
              <a:rPr lang="tr-TR" dirty="0" err="1">
                <a:solidFill>
                  <a:srgbClr val="FF0000"/>
                </a:solidFill>
              </a:rPr>
              <a:t>Computer</a:t>
            </a:r>
            <a:r>
              <a:rPr lang="tr-TR" dirty="0">
                <a:solidFill>
                  <a:srgbClr val="FF0000"/>
                </a:solidFill>
              </a:rPr>
              <a:t> </a:t>
            </a:r>
            <a:r>
              <a:rPr lang="tr-TR" dirty="0" err="1">
                <a:solidFill>
                  <a:srgbClr val="FF0000"/>
                </a:solidFill>
              </a:rPr>
              <a:t>Society</a:t>
            </a:r>
            <a:endParaRPr lang="tr-TR" dirty="0">
              <a:solidFill>
                <a:srgbClr val="FF0000"/>
              </a:solidFill>
            </a:endParaRPr>
          </a:p>
        </p:txBody>
      </p:sp>
    </p:spTree>
    <p:extLst>
      <p:ext uri="{BB962C8B-B14F-4D97-AF65-F5344CB8AC3E}">
        <p14:creationId xmlns:p14="http://schemas.microsoft.com/office/powerpoint/2010/main" val="649096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p:cNvSpPr/>
          <p:nvPr/>
        </p:nvSpPr>
        <p:spPr>
          <a:xfrm>
            <a:off x="755576" y="188640"/>
            <a:ext cx="7899150" cy="707886"/>
          </a:xfrm>
          <a:prstGeom prst="rect">
            <a:avLst/>
          </a:prstGeom>
        </p:spPr>
        <p:txBody>
          <a:bodyPr wrap="none">
            <a:spAutoFit/>
          </a:bodyPr>
          <a:lstStyle/>
          <a:p>
            <a:r>
              <a:rPr lang="tr-TR" sz="4000" dirty="0"/>
              <a:t>BM Sürdürülebilir Kalkınma Hedefleri</a:t>
            </a:r>
          </a:p>
        </p:txBody>
      </p:sp>
      <p:pic>
        <p:nvPicPr>
          <p:cNvPr id="4" name="Resim 3">
            <a:extLst>
              <a:ext uri="{FF2B5EF4-FFF2-40B4-BE49-F238E27FC236}">
                <a16:creationId xmlns:a16="http://schemas.microsoft.com/office/drawing/2014/main" id="{C36ABACC-FDBD-09E1-83DB-5894EC55292E}"/>
              </a:ext>
            </a:extLst>
          </p:cNvPr>
          <p:cNvPicPr>
            <a:picLocks noChangeAspect="1"/>
          </p:cNvPicPr>
          <p:nvPr/>
        </p:nvPicPr>
        <p:blipFill>
          <a:blip r:embed="rId2"/>
          <a:stretch>
            <a:fillRect/>
          </a:stretch>
        </p:blipFill>
        <p:spPr>
          <a:xfrm>
            <a:off x="2166192" y="2720532"/>
            <a:ext cx="6226790" cy="3732803"/>
          </a:xfrm>
          <a:prstGeom prst="rect">
            <a:avLst/>
          </a:prstGeom>
        </p:spPr>
      </p:pic>
      <p:sp>
        <p:nvSpPr>
          <p:cNvPr id="5" name="Metin kutusu 4">
            <a:extLst>
              <a:ext uri="{FF2B5EF4-FFF2-40B4-BE49-F238E27FC236}">
                <a16:creationId xmlns:a16="http://schemas.microsoft.com/office/drawing/2014/main" id="{94E888D4-38FD-B9E0-A801-A9055F7A4EC8}"/>
              </a:ext>
            </a:extLst>
          </p:cNvPr>
          <p:cNvSpPr txBox="1"/>
          <p:nvPr/>
        </p:nvSpPr>
        <p:spPr>
          <a:xfrm>
            <a:off x="107504" y="6453336"/>
            <a:ext cx="3384376" cy="646331"/>
          </a:xfrm>
          <a:prstGeom prst="rect">
            <a:avLst/>
          </a:prstGeom>
          <a:noFill/>
        </p:spPr>
        <p:txBody>
          <a:bodyPr wrap="square">
            <a:spAutoFit/>
          </a:bodyPr>
          <a:lstStyle/>
          <a:p>
            <a:r>
              <a:rPr lang="tr-TR" dirty="0">
                <a:hlinkClick r:id="rId3"/>
              </a:rPr>
              <a:t>https://www.kureselamaclar.org/</a:t>
            </a:r>
            <a:endParaRPr lang="tr-TR" dirty="0"/>
          </a:p>
          <a:p>
            <a:endParaRPr lang="tr-TR" dirty="0"/>
          </a:p>
        </p:txBody>
      </p:sp>
      <p:sp>
        <p:nvSpPr>
          <p:cNvPr id="7" name="Metin kutusu 6">
            <a:extLst>
              <a:ext uri="{FF2B5EF4-FFF2-40B4-BE49-F238E27FC236}">
                <a16:creationId xmlns:a16="http://schemas.microsoft.com/office/drawing/2014/main" id="{28BBA410-80DB-5174-8B70-DC0D067770C8}"/>
              </a:ext>
            </a:extLst>
          </p:cNvPr>
          <p:cNvSpPr txBox="1"/>
          <p:nvPr/>
        </p:nvSpPr>
        <p:spPr>
          <a:xfrm>
            <a:off x="755576" y="948645"/>
            <a:ext cx="7776864" cy="1754326"/>
          </a:xfrm>
          <a:prstGeom prst="rect">
            <a:avLst/>
          </a:prstGeom>
          <a:noFill/>
        </p:spPr>
        <p:txBody>
          <a:bodyPr wrap="square">
            <a:spAutoFit/>
          </a:bodyPr>
          <a:lstStyle/>
          <a:p>
            <a:pPr algn="just"/>
            <a:r>
              <a:rPr lang="tr-TR" b="0" i="0" dirty="0">
                <a:effectLst/>
                <a:latin typeface="Arial" panose="020B0604020202020204" pitchFamily="34" charset="0"/>
              </a:rPr>
              <a:t>Dünya Liderleri 2015 yılında, 2030'a kadar 3 önemli işi başarmak için 17 Küresel Amaç üzerinde uzlaştı. </a:t>
            </a:r>
            <a:r>
              <a:rPr lang="tr-TR" b="0" i="0" dirty="0">
                <a:solidFill>
                  <a:srgbClr val="FF0000"/>
                </a:solidFill>
                <a:effectLst/>
                <a:latin typeface="Arial" panose="020B0604020202020204" pitchFamily="34" charset="0"/>
              </a:rPr>
              <a:t>Aşırı yoksulluğu sona erdirmek</a:t>
            </a:r>
            <a:r>
              <a:rPr lang="tr-TR" b="0" i="0" dirty="0">
                <a:effectLst/>
                <a:latin typeface="Arial" panose="020B0604020202020204" pitchFamily="34" charset="0"/>
              </a:rPr>
              <a:t>. </a:t>
            </a:r>
            <a:r>
              <a:rPr lang="tr-TR" b="0" i="0" dirty="0">
                <a:solidFill>
                  <a:srgbClr val="FF0000"/>
                </a:solidFill>
                <a:effectLst/>
                <a:latin typeface="Arial" panose="020B0604020202020204" pitchFamily="34" charset="0"/>
              </a:rPr>
              <a:t>Eşitsizlik ve adaletsizlik ile mücadele</a:t>
            </a:r>
            <a:r>
              <a:rPr lang="tr-TR" b="0" i="0" dirty="0">
                <a:effectLst/>
                <a:latin typeface="Arial" panose="020B0604020202020204" pitchFamily="34" charset="0"/>
              </a:rPr>
              <a:t>. </a:t>
            </a:r>
            <a:r>
              <a:rPr lang="tr-TR" b="0" i="0" dirty="0">
                <a:solidFill>
                  <a:srgbClr val="FF0000"/>
                </a:solidFill>
                <a:effectLst/>
                <a:latin typeface="Arial" panose="020B0604020202020204" pitchFamily="34" charset="0"/>
              </a:rPr>
              <a:t>İklim değişikliğini düzeltme</a:t>
            </a:r>
            <a:r>
              <a:rPr lang="tr-TR" b="0" i="0" dirty="0">
                <a:effectLst/>
                <a:latin typeface="Arial" panose="020B0604020202020204" pitchFamily="34" charset="0"/>
              </a:rPr>
              <a:t>. Sürdürülebilir kalkınma için Küresel Amaçlar bu taahhütleri gerçekleştirebilir. Bütün ülkelerde. Tüm insanlar için. Bunların gerçekleşebilmesi için herkesin bu hedefleri bilmesi gerekiyor.</a:t>
            </a:r>
            <a:endParaRPr lang="tr-TR" dirty="0"/>
          </a:p>
        </p:txBody>
      </p:sp>
    </p:spTree>
    <p:extLst>
      <p:ext uri="{BB962C8B-B14F-4D97-AF65-F5344CB8AC3E}">
        <p14:creationId xmlns:p14="http://schemas.microsoft.com/office/powerpoint/2010/main" val="4251048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p:cNvSpPr/>
          <p:nvPr/>
        </p:nvSpPr>
        <p:spPr>
          <a:xfrm>
            <a:off x="755576" y="188640"/>
            <a:ext cx="7899150" cy="707886"/>
          </a:xfrm>
          <a:prstGeom prst="rect">
            <a:avLst/>
          </a:prstGeom>
        </p:spPr>
        <p:txBody>
          <a:bodyPr wrap="none">
            <a:spAutoFit/>
          </a:bodyPr>
          <a:lstStyle/>
          <a:p>
            <a:r>
              <a:rPr lang="tr-TR" sz="4000" dirty="0"/>
              <a:t>BM Sürdürülebilir Kalkınma Hedefleri</a:t>
            </a:r>
          </a:p>
        </p:txBody>
      </p:sp>
      <p:sp>
        <p:nvSpPr>
          <p:cNvPr id="9" name="Metin kutusu 8">
            <a:extLst>
              <a:ext uri="{FF2B5EF4-FFF2-40B4-BE49-F238E27FC236}">
                <a16:creationId xmlns:a16="http://schemas.microsoft.com/office/drawing/2014/main" id="{B79EBCB7-C820-6FB7-3832-85F15813B37E}"/>
              </a:ext>
            </a:extLst>
          </p:cNvPr>
          <p:cNvSpPr txBox="1"/>
          <p:nvPr/>
        </p:nvSpPr>
        <p:spPr>
          <a:xfrm>
            <a:off x="755576" y="710108"/>
            <a:ext cx="8136904" cy="5632311"/>
          </a:xfrm>
          <a:prstGeom prst="rect">
            <a:avLst/>
          </a:prstGeom>
          <a:noFill/>
        </p:spPr>
        <p:txBody>
          <a:bodyPr wrap="square">
            <a:spAutoFit/>
          </a:bodyPr>
          <a:lstStyle/>
          <a:p>
            <a:endParaRPr lang="tr-TR" dirty="0"/>
          </a:p>
          <a:p>
            <a:r>
              <a:rPr lang="tr-TR" dirty="0"/>
              <a:t>Birleşmiş </a:t>
            </a:r>
            <a:r>
              <a:rPr lang="tr-TR" dirty="0" err="1"/>
              <a:t>Milletler’in</a:t>
            </a:r>
            <a:r>
              <a:rPr lang="tr-TR" dirty="0"/>
              <a:t> 17 Sürdürülebilir Kalkınma Hedefi (SKH), sadece çevresel değil, ekonomik ve toplumsal sürdürülebilirliği de amaçlar. Bilgisayar mühendisleri olarak, bu hedeflere ulaşmada teknolojinin gücünü kullanabiliriz.</a:t>
            </a:r>
          </a:p>
          <a:p>
            <a:endParaRPr lang="tr-TR" dirty="0"/>
          </a:p>
          <a:p>
            <a:r>
              <a:rPr lang="tr-TR" b="1" dirty="0"/>
              <a:t>1. Teknoloji ile toplumsal fayda:</a:t>
            </a:r>
            <a:r>
              <a:rPr lang="tr-TR" dirty="0"/>
              <a:t> Sağlık, eğitim, enerji ve tarım alanlarında geliştirilen yazılımlar toplumun yaşam kalitesini artırabilir.</a:t>
            </a:r>
          </a:p>
          <a:p>
            <a:endParaRPr lang="tr-TR" dirty="0"/>
          </a:p>
          <a:p>
            <a:r>
              <a:rPr lang="tr-TR" b="1" dirty="0"/>
              <a:t>2. Akıllı şehirler ve enerji verimliliği:</a:t>
            </a:r>
            <a:r>
              <a:rPr lang="tr-TR" dirty="0"/>
              <a:t> </a:t>
            </a:r>
            <a:r>
              <a:rPr lang="tr-TR" dirty="0" err="1"/>
              <a:t>IoT</a:t>
            </a:r>
            <a:r>
              <a:rPr lang="tr-TR" dirty="0"/>
              <a:t>, yapay zekâ ve veri analitiği ile şehirlerin kaynak kullanımını optimize eden projeler geliştirilebilir.</a:t>
            </a:r>
          </a:p>
          <a:p>
            <a:endParaRPr lang="tr-TR" dirty="0"/>
          </a:p>
          <a:p>
            <a:r>
              <a:rPr lang="tr-TR" b="1" dirty="0"/>
              <a:t>3. Dijital eşitsizliklerin azaltılması:</a:t>
            </a:r>
            <a:r>
              <a:rPr lang="tr-TR" dirty="0"/>
              <a:t> Erişilebilir, kapsayıcı ve açık kaynaklı dijital çözümlerle bilgiye erişim demokratikleşir.</a:t>
            </a:r>
          </a:p>
          <a:p>
            <a:endParaRPr lang="tr-TR" dirty="0"/>
          </a:p>
          <a:p>
            <a:r>
              <a:rPr lang="tr-TR" b="1" dirty="0"/>
              <a:t>4. İklim verisi ve yapay zekâ uygulamaları:</a:t>
            </a:r>
            <a:r>
              <a:rPr lang="tr-TR" dirty="0"/>
              <a:t> Uzaktan algılama, veri madenciliği ve modelleme ile iklim değişikliğini anlamaya ve önlemeye katkı sağlanabilir.</a:t>
            </a:r>
          </a:p>
          <a:p>
            <a:endParaRPr lang="tr-TR" dirty="0"/>
          </a:p>
          <a:p>
            <a:r>
              <a:rPr lang="tr-TR" b="1" dirty="0"/>
              <a:t>5. Etik ve sürdürülebilir yazılım geliştirme:</a:t>
            </a:r>
            <a:r>
              <a:rPr lang="tr-TR" dirty="0"/>
              <a:t> Projelerde enerji tüketimi, veri gizliliği ve etik kodlama ilkeleri gözetilmelidir.</a:t>
            </a:r>
          </a:p>
          <a:p>
            <a:endParaRPr lang="tr-TR" dirty="0"/>
          </a:p>
        </p:txBody>
      </p:sp>
    </p:spTree>
    <p:extLst>
      <p:ext uri="{BB962C8B-B14F-4D97-AF65-F5344CB8AC3E}">
        <p14:creationId xmlns:p14="http://schemas.microsoft.com/office/powerpoint/2010/main" val="1273595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ikdörtgen 2"/>
          <p:cNvSpPr/>
          <p:nvPr/>
        </p:nvSpPr>
        <p:spPr>
          <a:xfrm>
            <a:off x="755576" y="188640"/>
            <a:ext cx="7899150" cy="707886"/>
          </a:xfrm>
          <a:prstGeom prst="rect">
            <a:avLst/>
          </a:prstGeom>
        </p:spPr>
        <p:txBody>
          <a:bodyPr wrap="none">
            <a:spAutoFit/>
          </a:bodyPr>
          <a:lstStyle/>
          <a:p>
            <a:r>
              <a:rPr lang="tr-TR" sz="4000" dirty="0"/>
              <a:t>BM Sürdürülebilir Kalkınma Hedefleri</a:t>
            </a:r>
          </a:p>
        </p:txBody>
      </p:sp>
      <p:sp>
        <p:nvSpPr>
          <p:cNvPr id="4" name="Metin kutusu 3">
            <a:extLst>
              <a:ext uri="{FF2B5EF4-FFF2-40B4-BE49-F238E27FC236}">
                <a16:creationId xmlns:a16="http://schemas.microsoft.com/office/drawing/2014/main" id="{1E05D919-0FFE-50BD-0F37-6FD6C105AA4D}"/>
              </a:ext>
            </a:extLst>
          </p:cNvPr>
          <p:cNvSpPr txBox="1"/>
          <p:nvPr/>
        </p:nvSpPr>
        <p:spPr>
          <a:xfrm>
            <a:off x="899592" y="1568981"/>
            <a:ext cx="7488832" cy="4524315"/>
          </a:xfrm>
          <a:prstGeom prst="rect">
            <a:avLst/>
          </a:prstGeom>
          <a:noFill/>
        </p:spPr>
        <p:txBody>
          <a:bodyPr wrap="square">
            <a:spAutoFit/>
          </a:bodyPr>
          <a:lstStyle/>
          <a:p>
            <a:r>
              <a:rPr lang="tr-TR" b="1" dirty="0"/>
              <a:t>MOTİVASYON:</a:t>
            </a:r>
          </a:p>
          <a:p>
            <a:endParaRPr lang="tr-TR" dirty="0"/>
          </a:p>
          <a:p>
            <a:pPr marL="285750" indent="-285750">
              <a:buFontTx/>
              <a:buChar char="-"/>
            </a:pPr>
            <a:r>
              <a:rPr lang="tr-TR" dirty="0"/>
              <a:t>Teknoloji, yalnızca kod yazmak değil; </a:t>
            </a:r>
            <a:r>
              <a:rPr lang="tr-TR" dirty="0">
                <a:solidFill>
                  <a:srgbClr val="FF0000"/>
                </a:solidFill>
              </a:rPr>
              <a:t>geleceği şekillendirmektir.</a:t>
            </a:r>
          </a:p>
          <a:p>
            <a:pPr marL="285750" indent="-285750">
              <a:buFontTx/>
              <a:buChar char="-"/>
            </a:pPr>
            <a:endParaRPr lang="tr-TR" dirty="0"/>
          </a:p>
          <a:p>
            <a:pPr marL="285750" indent="-285750">
              <a:buFontTx/>
              <a:buChar char="-"/>
            </a:pPr>
            <a:r>
              <a:rPr lang="tr-TR" dirty="0"/>
              <a:t>Bugün geliştirdiğiniz bir algoritma, yarın </a:t>
            </a:r>
            <a:r>
              <a:rPr lang="tr-TR" dirty="0">
                <a:solidFill>
                  <a:srgbClr val="FF0000"/>
                </a:solidFill>
              </a:rPr>
              <a:t>insanların yaşamını kolaylaştırabilir</a:t>
            </a:r>
            <a:r>
              <a:rPr lang="tr-TR" dirty="0"/>
              <a:t>, </a:t>
            </a:r>
            <a:r>
              <a:rPr lang="tr-TR" dirty="0">
                <a:solidFill>
                  <a:srgbClr val="FF0000"/>
                </a:solidFill>
              </a:rPr>
              <a:t>doğayı koruyabilir</a:t>
            </a:r>
            <a:r>
              <a:rPr lang="tr-TR" dirty="0"/>
              <a:t> veya </a:t>
            </a:r>
            <a:r>
              <a:rPr lang="tr-TR" dirty="0">
                <a:solidFill>
                  <a:srgbClr val="FF0000"/>
                </a:solidFill>
              </a:rPr>
              <a:t>toplumsal eşitsizlikleri azaltabilir</a:t>
            </a:r>
            <a:r>
              <a:rPr lang="tr-TR" dirty="0"/>
              <a:t>.</a:t>
            </a:r>
          </a:p>
          <a:p>
            <a:pPr marL="285750" indent="-285750">
              <a:buFontTx/>
              <a:buChar char="-"/>
            </a:pPr>
            <a:endParaRPr lang="tr-TR" dirty="0"/>
          </a:p>
          <a:p>
            <a:pPr marL="285750" indent="-285750">
              <a:buFontTx/>
              <a:buChar char="-"/>
            </a:pPr>
            <a:r>
              <a:rPr lang="tr-TR" dirty="0"/>
              <a:t>Sürdürülebilir kalkınma hedefleri, bize bir şeyi </a:t>
            </a:r>
            <a:r>
              <a:rPr lang="tr-TR" dirty="0">
                <a:solidFill>
                  <a:srgbClr val="FF0000"/>
                </a:solidFill>
              </a:rPr>
              <a:t>neden yaptığımızı</a:t>
            </a:r>
            <a:r>
              <a:rPr lang="tr-TR" dirty="0"/>
              <a:t> hatırlatır.</a:t>
            </a:r>
          </a:p>
          <a:p>
            <a:pPr marL="285750" indent="-285750">
              <a:buFontTx/>
              <a:buChar char="-"/>
            </a:pPr>
            <a:endParaRPr lang="tr-TR" dirty="0"/>
          </a:p>
          <a:p>
            <a:pPr marL="285750" indent="-285750">
              <a:buFontTx/>
              <a:buChar char="-"/>
            </a:pPr>
            <a:r>
              <a:rPr lang="tr-TR" dirty="0"/>
              <a:t>Bitirme projeniz sadece mezuniyet için bir gereklilik değil </a:t>
            </a:r>
            <a:r>
              <a:rPr lang="tr-TR" dirty="0">
                <a:solidFill>
                  <a:srgbClr val="FF0000"/>
                </a:solidFill>
              </a:rPr>
              <a:t>daha yaşanabilir bir dünyanın küçük ama anlamlı bir adımı</a:t>
            </a:r>
            <a:r>
              <a:rPr lang="tr-TR" dirty="0"/>
              <a:t> olabilir.</a:t>
            </a:r>
          </a:p>
          <a:p>
            <a:endParaRPr lang="tr-TR" dirty="0"/>
          </a:p>
          <a:p>
            <a:endParaRPr lang="tr-TR" dirty="0"/>
          </a:p>
          <a:p>
            <a:pPr algn="ctr"/>
            <a:r>
              <a:rPr lang="tr-TR" dirty="0">
                <a:solidFill>
                  <a:srgbClr val="FF0000"/>
                </a:solidFill>
              </a:rPr>
              <a:t>Kod yazarken dünyayı da düşünün. </a:t>
            </a:r>
            <a:r>
              <a:rPr lang="tr-TR" dirty="0"/>
              <a:t>🌍 </a:t>
            </a:r>
            <a:endParaRPr lang="tr-TR" dirty="0">
              <a:solidFill>
                <a:srgbClr val="FF0000"/>
              </a:solidFill>
            </a:endParaRPr>
          </a:p>
          <a:p>
            <a:endParaRPr lang="tr-TR" dirty="0"/>
          </a:p>
          <a:p>
            <a:endParaRPr lang="tr-TR" dirty="0"/>
          </a:p>
        </p:txBody>
      </p:sp>
    </p:spTree>
    <p:extLst>
      <p:ext uri="{BB962C8B-B14F-4D97-AF65-F5344CB8AC3E}">
        <p14:creationId xmlns:p14="http://schemas.microsoft.com/office/powerpoint/2010/main" val="3812674624"/>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TotalTime>
  <Words>632</Words>
  <Application>Microsoft Office PowerPoint</Application>
  <PresentationFormat>Ekran Gösterisi (4:3)</PresentationFormat>
  <Paragraphs>74</Paragraphs>
  <Slides>15</Slides>
  <Notes>6</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15</vt:i4>
      </vt:variant>
    </vt:vector>
  </HeadingPairs>
  <TitlesOfParts>
    <vt:vector size="19" baseType="lpstr">
      <vt:lpstr>Arial</vt:lpstr>
      <vt:lpstr>Calibri</vt:lpstr>
      <vt:lpstr>Source Sans Pro</vt:lpstr>
      <vt:lpstr>Ofis Teması</vt:lpstr>
      <vt:lpstr>Araştırma Teknikleri   Mesleki Topluluklar Birleşmiş Milletler Sürdürülebilir Kalkınma Hedefleri</vt:lpstr>
      <vt:lpstr>Başkent Üniversitesi Kütüphanesi</vt:lpstr>
      <vt:lpstr>IEEE Digital Library</vt:lpstr>
      <vt:lpstr>ScienceDirect</vt:lpstr>
      <vt:lpstr>PowerPoint Sunusu</vt:lpstr>
      <vt:lpstr>ResearchGate</vt:lpstr>
      <vt:lpstr>AI Tools</vt:lpstr>
      <vt:lpstr>Veri Seti Araştırmaları</vt:lpstr>
      <vt:lpstr>Kütüphane – Proxy Hesabı Açma</vt:lpstr>
      <vt:lpstr>PowerPoint Sunusu</vt:lpstr>
      <vt:lpstr>PowerPoint Sunusu</vt:lpstr>
      <vt:lpstr>Mesleki Topluluklar</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Araştırma Teknikleri</dc:title>
  <dc:creator>Admin</dc:creator>
  <cp:lastModifiedBy>Emre Sümer</cp:lastModifiedBy>
  <cp:revision>37</cp:revision>
  <dcterms:created xsi:type="dcterms:W3CDTF">2016-11-15T08:37:59Z</dcterms:created>
  <dcterms:modified xsi:type="dcterms:W3CDTF">2025-10-12T21:03:34Z</dcterms:modified>
</cp:coreProperties>
</file>